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3"/>
  </p:notesMasterIdLst>
  <p:sldIdLst>
    <p:sldId id="257" r:id="rId2"/>
    <p:sldId id="258" r:id="rId3"/>
    <p:sldId id="259" r:id="rId4"/>
    <p:sldId id="260" r:id="rId5"/>
    <p:sldId id="261" r:id="rId6"/>
    <p:sldId id="262" r:id="rId7"/>
    <p:sldId id="263" r:id="rId8"/>
    <p:sldId id="295" r:id="rId9"/>
    <p:sldId id="265" r:id="rId10"/>
    <p:sldId id="266"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EC8524-638E-4D1A-BE97-BB47510017D7}" type="doc">
      <dgm:prSet loTypeId="urn:microsoft.com/office/officeart/2005/8/layout/chart3" loCatId="relationship" qsTypeId="urn:microsoft.com/office/officeart/2005/8/quickstyle/simple1" qsCatId="simple" csTypeId="urn:microsoft.com/office/officeart/2005/8/colors/colorful5" csCatId="colorful" phldr="1"/>
      <dgm:spPr/>
    </dgm:pt>
    <dgm:pt modelId="{C07570F2-8DDF-41AD-B82A-0D69A2864EA9}">
      <dgm:prSet phldrT="[Text]" custT="1"/>
      <dgm:spPr/>
      <dgm:t>
        <a:bodyPr/>
        <a:lstStyle/>
        <a:p>
          <a:r>
            <a:rPr lang="en-US" sz="2400" b="1" dirty="0"/>
            <a:t>Analytical Skills</a:t>
          </a:r>
        </a:p>
      </dgm:t>
    </dgm:pt>
    <dgm:pt modelId="{5821FB74-9D82-4CA6-B7B4-9571C1590699}" type="parTrans" cxnId="{BD73CC3D-423A-41E6-90B1-12DCD4738289}">
      <dgm:prSet/>
      <dgm:spPr/>
      <dgm:t>
        <a:bodyPr/>
        <a:lstStyle/>
        <a:p>
          <a:endParaRPr lang="en-US"/>
        </a:p>
      </dgm:t>
    </dgm:pt>
    <dgm:pt modelId="{9C8A916F-9C84-4200-B637-000AE8D5DB01}" type="sibTrans" cxnId="{BD73CC3D-423A-41E6-90B1-12DCD4738289}">
      <dgm:prSet/>
      <dgm:spPr/>
      <dgm:t>
        <a:bodyPr/>
        <a:lstStyle/>
        <a:p>
          <a:endParaRPr lang="en-US"/>
        </a:p>
      </dgm:t>
    </dgm:pt>
    <dgm:pt modelId="{568DAF38-F124-4A95-9D45-1BF0AAB3014A}">
      <dgm:prSet phldrT="[Text]" custT="1"/>
      <dgm:spPr/>
      <dgm:t>
        <a:bodyPr/>
        <a:lstStyle/>
        <a:p>
          <a:r>
            <a:rPr lang="en-US" sz="2400" b="1" dirty="0"/>
            <a:t>Punctuality</a:t>
          </a:r>
        </a:p>
      </dgm:t>
    </dgm:pt>
    <dgm:pt modelId="{B13900D2-D491-4B6D-90C3-FD0CD87B1059}" type="parTrans" cxnId="{F648C466-FBF3-4E4E-A41C-5D4E95575AB5}">
      <dgm:prSet/>
      <dgm:spPr/>
      <dgm:t>
        <a:bodyPr/>
        <a:lstStyle/>
        <a:p>
          <a:endParaRPr lang="en-US"/>
        </a:p>
      </dgm:t>
    </dgm:pt>
    <dgm:pt modelId="{6354F029-8008-4823-87D3-32D14EC10B3A}" type="sibTrans" cxnId="{F648C466-FBF3-4E4E-A41C-5D4E95575AB5}">
      <dgm:prSet/>
      <dgm:spPr/>
      <dgm:t>
        <a:bodyPr/>
        <a:lstStyle/>
        <a:p>
          <a:endParaRPr lang="en-US"/>
        </a:p>
      </dgm:t>
    </dgm:pt>
    <dgm:pt modelId="{0E690BFA-D50C-480D-8BE8-E2B8AF807099}">
      <dgm:prSet phldrT="[Text]" custT="1"/>
      <dgm:spPr/>
      <dgm:t>
        <a:bodyPr/>
        <a:lstStyle/>
        <a:p>
          <a:r>
            <a:rPr lang="en-US" sz="2400" b="1" dirty="0"/>
            <a:t>Perseverance</a:t>
          </a:r>
        </a:p>
      </dgm:t>
    </dgm:pt>
    <dgm:pt modelId="{2BF5F4E8-F586-4A19-B1C2-117254D435DC}" type="parTrans" cxnId="{150A5E3B-B8A7-4852-B648-A73B9710DF58}">
      <dgm:prSet/>
      <dgm:spPr/>
      <dgm:t>
        <a:bodyPr/>
        <a:lstStyle/>
        <a:p>
          <a:endParaRPr lang="en-US"/>
        </a:p>
      </dgm:t>
    </dgm:pt>
    <dgm:pt modelId="{4398937D-8C7D-43AD-89CA-300F67AAC9B3}" type="sibTrans" cxnId="{150A5E3B-B8A7-4852-B648-A73B9710DF58}">
      <dgm:prSet/>
      <dgm:spPr/>
      <dgm:t>
        <a:bodyPr/>
        <a:lstStyle/>
        <a:p>
          <a:endParaRPr lang="en-US"/>
        </a:p>
      </dgm:t>
    </dgm:pt>
    <dgm:pt modelId="{DB3EC474-1CD1-46E1-9137-010B5466553C}">
      <dgm:prSet phldrT="[Text]" custT="1"/>
      <dgm:spPr/>
      <dgm:t>
        <a:bodyPr/>
        <a:lstStyle/>
        <a:p>
          <a:r>
            <a:rPr lang="en-US" sz="2400" b="1" dirty="0"/>
            <a:t>Dedication</a:t>
          </a:r>
        </a:p>
      </dgm:t>
    </dgm:pt>
    <dgm:pt modelId="{324400B3-415F-4097-8362-7295806C60A9}" type="parTrans" cxnId="{EC85FAF1-C995-45FD-90FF-D326C3E779FF}">
      <dgm:prSet/>
      <dgm:spPr/>
      <dgm:t>
        <a:bodyPr/>
        <a:lstStyle/>
        <a:p>
          <a:endParaRPr lang="en-US"/>
        </a:p>
      </dgm:t>
    </dgm:pt>
    <dgm:pt modelId="{5BFE9FBC-BA5F-41A8-9C3F-44D88FC622D1}" type="sibTrans" cxnId="{EC85FAF1-C995-45FD-90FF-D326C3E779FF}">
      <dgm:prSet/>
      <dgm:spPr/>
      <dgm:t>
        <a:bodyPr/>
        <a:lstStyle/>
        <a:p>
          <a:endParaRPr lang="en-US"/>
        </a:p>
      </dgm:t>
    </dgm:pt>
    <dgm:pt modelId="{8C8CDB9F-E5F3-4CBC-99F6-65576F3A5A49}">
      <dgm:prSet phldrT="[Text]" custT="1"/>
      <dgm:spPr/>
      <dgm:t>
        <a:bodyPr/>
        <a:lstStyle/>
        <a:p>
          <a:r>
            <a:rPr lang="en-US" sz="2400" b="1" dirty="0"/>
            <a:t>Time-Devotion</a:t>
          </a:r>
        </a:p>
      </dgm:t>
    </dgm:pt>
    <dgm:pt modelId="{F523CCF2-6784-4D1E-B699-999FCFA24016}" type="parTrans" cxnId="{FA0DF8C6-4388-4C1C-8588-027ADAEC3CCB}">
      <dgm:prSet/>
      <dgm:spPr/>
      <dgm:t>
        <a:bodyPr/>
        <a:lstStyle/>
        <a:p>
          <a:endParaRPr lang="en-US"/>
        </a:p>
      </dgm:t>
    </dgm:pt>
    <dgm:pt modelId="{B5FAD8A0-2DA6-4FCC-B3A6-B506CD066C94}" type="sibTrans" cxnId="{FA0DF8C6-4388-4C1C-8588-027ADAEC3CCB}">
      <dgm:prSet/>
      <dgm:spPr/>
      <dgm:t>
        <a:bodyPr/>
        <a:lstStyle/>
        <a:p>
          <a:endParaRPr lang="en-US"/>
        </a:p>
      </dgm:t>
    </dgm:pt>
    <dgm:pt modelId="{E2595A2C-AF8E-4C83-9ABF-462E6B173B18}">
      <dgm:prSet phldrT="[Text]" custT="1"/>
      <dgm:spPr/>
      <dgm:t>
        <a:bodyPr/>
        <a:lstStyle/>
        <a:p>
          <a:r>
            <a:rPr lang="en-US" sz="2400" b="1" dirty="0"/>
            <a:t>Intelligence</a:t>
          </a:r>
        </a:p>
      </dgm:t>
    </dgm:pt>
    <dgm:pt modelId="{0F23B4EE-8A29-4962-9568-A75888F7F801}" type="parTrans" cxnId="{EF4A758E-D8AD-445E-8011-52A642E65773}">
      <dgm:prSet/>
      <dgm:spPr/>
      <dgm:t>
        <a:bodyPr/>
        <a:lstStyle/>
        <a:p>
          <a:endParaRPr lang="en-US"/>
        </a:p>
      </dgm:t>
    </dgm:pt>
    <dgm:pt modelId="{4BDF07AD-8399-40B8-854E-F7CF023DC26C}" type="sibTrans" cxnId="{EF4A758E-D8AD-445E-8011-52A642E65773}">
      <dgm:prSet/>
      <dgm:spPr/>
      <dgm:t>
        <a:bodyPr/>
        <a:lstStyle/>
        <a:p>
          <a:endParaRPr lang="en-US"/>
        </a:p>
      </dgm:t>
    </dgm:pt>
    <dgm:pt modelId="{0C5AD875-C73C-4D21-84D5-61105287DFCF}">
      <dgm:prSet phldrT="[Text]" custT="1"/>
      <dgm:spPr/>
      <dgm:t>
        <a:bodyPr/>
        <a:lstStyle/>
        <a:p>
          <a:r>
            <a:rPr lang="en-US" sz="2400" b="1" dirty="0"/>
            <a:t>Sincerity</a:t>
          </a:r>
        </a:p>
      </dgm:t>
    </dgm:pt>
    <dgm:pt modelId="{BB98E865-227D-4BA1-A3CF-517685F519C6}" type="parTrans" cxnId="{C6AC4A94-4D83-4217-88B6-2C97C3AF057D}">
      <dgm:prSet/>
      <dgm:spPr/>
      <dgm:t>
        <a:bodyPr/>
        <a:lstStyle/>
        <a:p>
          <a:endParaRPr lang="en-US"/>
        </a:p>
      </dgm:t>
    </dgm:pt>
    <dgm:pt modelId="{C65B2C48-3757-40BA-A4CC-1E0F5414C918}" type="sibTrans" cxnId="{C6AC4A94-4D83-4217-88B6-2C97C3AF057D}">
      <dgm:prSet/>
      <dgm:spPr/>
      <dgm:t>
        <a:bodyPr/>
        <a:lstStyle/>
        <a:p>
          <a:endParaRPr lang="en-US"/>
        </a:p>
      </dgm:t>
    </dgm:pt>
    <dgm:pt modelId="{AC6DECF6-40B9-4FB2-A215-2CB8CC50780C}" type="pres">
      <dgm:prSet presAssocID="{A4EC8524-638E-4D1A-BE97-BB47510017D7}" presName="compositeShape" presStyleCnt="0">
        <dgm:presLayoutVars>
          <dgm:chMax val="7"/>
          <dgm:dir/>
          <dgm:resizeHandles val="exact"/>
        </dgm:presLayoutVars>
      </dgm:prSet>
      <dgm:spPr/>
    </dgm:pt>
    <dgm:pt modelId="{007C6E50-4694-49DF-BC3D-EC60C3D1D3D1}" type="pres">
      <dgm:prSet presAssocID="{A4EC8524-638E-4D1A-BE97-BB47510017D7}" presName="wedge1" presStyleLbl="node1" presStyleIdx="0" presStyleCnt="7" custScaleX="104945" custScaleY="102953" custLinFactNeighborX="52357" custLinFactNeighborY="-5316"/>
      <dgm:spPr/>
    </dgm:pt>
    <dgm:pt modelId="{1E526092-2791-4D22-93DA-963F7B1BE937}" type="pres">
      <dgm:prSet presAssocID="{A4EC8524-638E-4D1A-BE97-BB47510017D7}" presName="wedge1Tx" presStyleLbl="node1" presStyleIdx="0" presStyleCnt="7">
        <dgm:presLayoutVars>
          <dgm:chMax val="0"/>
          <dgm:chPref val="0"/>
          <dgm:bulletEnabled val="1"/>
        </dgm:presLayoutVars>
      </dgm:prSet>
      <dgm:spPr/>
    </dgm:pt>
    <dgm:pt modelId="{6F7C1A9F-92D3-4DC5-8AF0-9F00F2610EDF}" type="pres">
      <dgm:prSet presAssocID="{A4EC8524-638E-4D1A-BE97-BB47510017D7}" presName="wedge2" presStyleLbl="node1" presStyleIdx="1" presStyleCnt="7" custScaleX="104945" custScaleY="102953" custLinFactNeighborX="55074" custLinFactNeighborY="-10478"/>
      <dgm:spPr/>
    </dgm:pt>
    <dgm:pt modelId="{658D1096-94D1-4010-9D42-A5CE89579D57}" type="pres">
      <dgm:prSet presAssocID="{A4EC8524-638E-4D1A-BE97-BB47510017D7}" presName="wedge2Tx" presStyleLbl="node1" presStyleIdx="1" presStyleCnt="7">
        <dgm:presLayoutVars>
          <dgm:chMax val="0"/>
          <dgm:chPref val="0"/>
          <dgm:bulletEnabled val="1"/>
        </dgm:presLayoutVars>
      </dgm:prSet>
      <dgm:spPr/>
    </dgm:pt>
    <dgm:pt modelId="{FD6A24D6-01F6-4458-BABB-9721108EDBD0}" type="pres">
      <dgm:prSet presAssocID="{A4EC8524-638E-4D1A-BE97-BB47510017D7}" presName="wedge3" presStyleLbl="node1" presStyleIdx="2" presStyleCnt="7" custScaleX="104945" custScaleY="102953" custLinFactNeighborX="55083" custLinFactNeighborY="-11257"/>
      <dgm:spPr/>
    </dgm:pt>
    <dgm:pt modelId="{42648D91-5960-40BD-844A-B12035758B22}" type="pres">
      <dgm:prSet presAssocID="{A4EC8524-638E-4D1A-BE97-BB47510017D7}" presName="wedge3Tx" presStyleLbl="node1" presStyleIdx="2" presStyleCnt="7">
        <dgm:presLayoutVars>
          <dgm:chMax val="0"/>
          <dgm:chPref val="0"/>
          <dgm:bulletEnabled val="1"/>
        </dgm:presLayoutVars>
      </dgm:prSet>
      <dgm:spPr/>
    </dgm:pt>
    <dgm:pt modelId="{89D22D70-75B6-41F4-91F4-8A0A2F566DF4}" type="pres">
      <dgm:prSet presAssocID="{A4EC8524-638E-4D1A-BE97-BB47510017D7}" presName="wedge4" presStyleLbl="node1" presStyleIdx="3" presStyleCnt="7" custScaleX="104945" custScaleY="102953" custLinFactNeighborX="55074" custLinFactNeighborY="-10478"/>
      <dgm:spPr/>
    </dgm:pt>
    <dgm:pt modelId="{37C60DE4-1EFE-4B47-AD5F-280501E42278}" type="pres">
      <dgm:prSet presAssocID="{A4EC8524-638E-4D1A-BE97-BB47510017D7}" presName="wedge4Tx" presStyleLbl="node1" presStyleIdx="3" presStyleCnt="7">
        <dgm:presLayoutVars>
          <dgm:chMax val="0"/>
          <dgm:chPref val="0"/>
          <dgm:bulletEnabled val="1"/>
        </dgm:presLayoutVars>
      </dgm:prSet>
      <dgm:spPr/>
    </dgm:pt>
    <dgm:pt modelId="{949D52D8-13AC-46BF-87BB-63357ADB1426}" type="pres">
      <dgm:prSet presAssocID="{A4EC8524-638E-4D1A-BE97-BB47510017D7}" presName="wedge5" presStyleLbl="node1" presStyleIdx="4" presStyleCnt="7" custScaleX="104945" custScaleY="102953" custLinFactNeighborX="55074" custLinFactNeighborY="-10478"/>
      <dgm:spPr/>
    </dgm:pt>
    <dgm:pt modelId="{8496C2DF-82B2-47C9-A5E7-48092FC3DE1A}" type="pres">
      <dgm:prSet presAssocID="{A4EC8524-638E-4D1A-BE97-BB47510017D7}" presName="wedge5Tx" presStyleLbl="node1" presStyleIdx="4" presStyleCnt="7">
        <dgm:presLayoutVars>
          <dgm:chMax val="0"/>
          <dgm:chPref val="0"/>
          <dgm:bulletEnabled val="1"/>
        </dgm:presLayoutVars>
      </dgm:prSet>
      <dgm:spPr/>
    </dgm:pt>
    <dgm:pt modelId="{09D7EE57-EA57-47EE-A3C1-22794014B663}" type="pres">
      <dgm:prSet presAssocID="{A4EC8524-638E-4D1A-BE97-BB47510017D7}" presName="wedge6" presStyleLbl="node1" presStyleIdx="5" presStyleCnt="7" custScaleX="104945" custScaleY="102953" custLinFactNeighborX="55074" custLinFactNeighborY="-10478"/>
      <dgm:spPr/>
    </dgm:pt>
    <dgm:pt modelId="{0A1838B4-6123-441C-9A31-694CFC23ECFD}" type="pres">
      <dgm:prSet presAssocID="{A4EC8524-638E-4D1A-BE97-BB47510017D7}" presName="wedge6Tx" presStyleLbl="node1" presStyleIdx="5" presStyleCnt="7">
        <dgm:presLayoutVars>
          <dgm:chMax val="0"/>
          <dgm:chPref val="0"/>
          <dgm:bulletEnabled val="1"/>
        </dgm:presLayoutVars>
      </dgm:prSet>
      <dgm:spPr/>
    </dgm:pt>
    <dgm:pt modelId="{5A212FDA-C73F-4F66-A451-92C476E03329}" type="pres">
      <dgm:prSet presAssocID="{A4EC8524-638E-4D1A-BE97-BB47510017D7}" presName="wedge7" presStyleLbl="node1" presStyleIdx="6" presStyleCnt="7" custScaleX="104945" custScaleY="102953" custLinFactNeighborX="54803" custLinFactNeighborY="-10206"/>
      <dgm:spPr/>
    </dgm:pt>
    <dgm:pt modelId="{C5B63027-1869-41EC-B7EE-7AD97B044D0A}" type="pres">
      <dgm:prSet presAssocID="{A4EC8524-638E-4D1A-BE97-BB47510017D7}" presName="wedge7Tx" presStyleLbl="node1" presStyleIdx="6" presStyleCnt="7">
        <dgm:presLayoutVars>
          <dgm:chMax val="0"/>
          <dgm:chPref val="0"/>
          <dgm:bulletEnabled val="1"/>
        </dgm:presLayoutVars>
      </dgm:prSet>
      <dgm:spPr/>
    </dgm:pt>
  </dgm:ptLst>
  <dgm:cxnLst>
    <dgm:cxn modelId="{F868340F-7817-4408-BE56-73AA05F4F2ED}" type="presOf" srcId="{568DAF38-F124-4A95-9D45-1BF0AAB3014A}" destId="{658D1096-94D1-4010-9D42-A5CE89579D57}" srcOrd="1" destOrd="0" presId="urn:microsoft.com/office/officeart/2005/8/layout/chart3"/>
    <dgm:cxn modelId="{96E2B016-FF50-4A54-AE92-12E21D570041}" type="presOf" srcId="{568DAF38-F124-4A95-9D45-1BF0AAB3014A}" destId="{6F7C1A9F-92D3-4DC5-8AF0-9F00F2610EDF}" srcOrd="0" destOrd="0" presId="urn:microsoft.com/office/officeart/2005/8/layout/chart3"/>
    <dgm:cxn modelId="{1CACA436-C5A0-48EF-B986-9B2AE436F1E2}" type="presOf" srcId="{0C5AD875-C73C-4D21-84D5-61105287DFCF}" destId="{5A212FDA-C73F-4F66-A451-92C476E03329}" srcOrd="0" destOrd="0" presId="urn:microsoft.com/office/officeart/2005/8/layout/chart3"/>
    <dgm:cxn modelId="{150A5E3B-B8A7-4852-B648-A73B9710DF58}" srcId="{A4EC8524-638E-4D1A-BE97-BB47510017D7}" destId="{0E690BFA-D50C-480D-8BE8-E2B8AF807099}" srcOrd="2" destOrd="0" parTransId="{2BF5F4E8-F586-4A19-B1C2-117254D435DC}" sibTransId="{4398937D-8C7D-43AD-89CA-300F67AAC9B3}"/>
    <dgm:cxn modelId="{BD73CC3D-423A-41E6-90B1-12DCD4738289}" srcId="{A4EC8524-638E-4D1A-BE97-BB47510017D7}" destId="{C07570F2-8DDF-41AD-B82A-0D69A2864EA9}" srcOrd="0" destOrd="0" parTransId="{5821FB74-9D82-4CA6-B7B4-9571C1590699}" sibTransId="{9C8A916F-9C84-4200-B637-000AE8D5DB01}"/>
    <dgm:cxn modelId="{BB4CD961-AA1C-458D-9936-213E5FF748B8}" type="presOf" srcId="{C07570F2-8DDF-41AD-B82A-0D69A2864EA9}" destId="{007C6E50-4694-49DF-BC3D-EC60C3D1D3D1}" srcOrd="0" destOrd="0" presId="urn:microsoft.com/office/officeart/2005/8/layout/chart3"/>
    <dgm:cxn modelId="{66FDE164-BEC8-42A6-8100-D75C67F81FF7}" type="presOf" srcId="{A4EC8524-638E-4D1A-BE97-BB47510017D7}" destId="{AC6DECF6-40B9-4FB2-A215-2CB8CC50780C}" srcOrd="0" destOrd="0" presId="urn:microsoft.com/office/officeart/2005/8/layout/chart3"/>
    <dgm:cxn modelId="{F648C466-FBF3-4E4E-A41C-5D4E95575AB5}" srcId="{A4EC8524-638E-4D1A-BE97-BB47510017D7}" destId="{568DAF38-F124-4A95-9D45-1BF0AAB3014A}" srcOrd="1" destOrd="0" parTransId="{B13900D2-D491-4B6D-90C3-FD0CD87B1059}" sibTransId="{6354F029-8008-4823-87D3-32D14EC10B3A}"/>
    <dgm:cxn modelId="{31166D67-56EB-4C35-9D7E-8EE7BEAA0AAC}" type="presOf" srcId="{DB3EC474-1CD1-46E1-9137-010B5466553C}" destId="{89D22D70-75B6-41F4-91F4-8A0A2F566DF4}" srcOrd="0" destOrd="0" presId="urn:microsoft.com/office/officeart/2005/8/layout/chart3"/>
    <dgm:cxn modelId="{4CF9CF52-B496-4BFB-9652-E6DB7E26EABE}" type="presOf" srcId="{8C8CDB9F-E5F3-4CBC-99F6-65576F3A5A49}" destId="{8496C2DF-82B2-47C9-A5E7-48092FC3DE1A}" srcOrd="1" destOrd="0" presId="urn:microsoft.com/office/officeart/2005/8/layout/chart3"/>
    <dgm:cxn modelId="{0B6BFD7B-E872-4CE8-9F7A-53625B0302D3}" type="presOf" srcId="{0C5AD875-C73C-4D21-84D5-61105287DFCF}" destId="{C5B63027-1869-41EC-B7EE-7AD97B044D0A}" srcOrd="1" destOrd="0" presId="urn:microsoft.com/office/officeart/2005/8/layout/chart3"/>
    <dgm:cxn modelId="{83EE037D-AE57-432E-94BC-62EFC515D0AF}" type="presOf" srcId="{DB3EC474-1CD1-46E1-9137-010B5466553C}" destId="{37C60DE4-1EFE-4B47-AD5F-280501E42278}" srcOrd="1" destOrd="0" presId="urn:microsoft.com/office/officeart/2005/8/layout/chart3"/>
    <dgm:cxn modelId="{1AFD428B-9A77-4CAE-867C-9CF9A1CBBEE9}" type="presOf" srcId="{E2595A2C-AF8E-4C83-9ABF-462E6B173B18}" destId="{09D7EE57-EA57-47EE-A3C1-22794014B663}" srcOrd="0" destOrd="0" presId="urn:microsoft.com/office/officeart/2005/8/layout/chart3"/>
    <dgm:cxn modelId="{EF4A758E-D8AD-445E-8011-52A642E65773}" srcId="{A4EC8524-638E-4D1A-BE97-BB47510017D7}" destId="{E2595A2C-AF8E-4C83-9ABF-462E6B173B18}" srcOrd="5" destOrd="0" parTransId="{0F23B4EE-8A29-4962-9568-A75888F7F801}" sibTransId="{4BDF07AD-8399-40B8-854E-F7CF023DC26C}"/>
    <dgm:cxn modelId="{C6AC4A94-4D83-4217-88B6-2C97C3AF057D}" srcId="{A4EC8524-638E-4D1A-BE97-BB47510017D7}" destId="{0C5AD875-C73C-4D21-84D5-61105287DFCF}" srcOrd="6" destOrd="0" parTransId="{BB98E865-227D-4BA1-A3CF-517685F519C6}" sibTransId="{C65B2C48-3757-40BA-A4CC-1E0F5414C918}"/>
    <dgm:cxn modelId="{522D60B2-E919-44BC-932E-562876D6AE1B}" type="presOf" srcId="{8C8CDB9F-E5F3-4CBC-99F6-65576F3A5A49}" destId="{949D52D8-13AC-46BF-87BB-63357ADB1426}" srcOrd="0" destOrd="0" presId="urn:microsoft.com/office/officeart/2005/8/layout/chart3"/>
    <dgm:cxn modelId="{F2D5B1C2-9DD9-4570-BF5F-D1E926A148E4}" type="presOf" srcId="{0E690BFA-D50C-480D-8BE8-E2B8AF807099}" destId="{FD6A24D6-01F6-4458-BABB-9721108EDBD0}" srcOrd="0" destOrd="0" presId="urn:microsoft.com/office/officeart/2005/8/layout/chart3"/>
    <dgm:cxn modelId="{FA0DF8C6-4388-4C1C-8588-027ADAEC3CCB}" srcId="{A4EC8524-638E-4D1A-BE97-BB47510017D7}" destId="{8C8CDB9F-E5F3-4CBC-99F6-65576F3A5A49}" srcOrd="4" destOrd="0" parTransId="{F523CCF2-6784-4D1E-B699-999FCFA24016}" sibTransId="{B5FAD8A0-2DA6-4FCC-B3A6-B506CD066C94}"/>
    <dgm:cxn modelId="{6CC545CA-2870-48C6-94BD-C765FDA25B2F}" type="presOf" srcId="{C07570F2-8DDF-41AD-B82A-0D69A2864EA9}" destId="{1E526092-2791-4D22-93DA-963F7B1BE937}" srcOrd="1" destOrd="0" presId="urn:microsoft.com/office/officeart/2005/8/layout/chart3"/>
    <dgm:cxn modelId="{795E3DE9-8944-4C4C-BA79-B567DBE00D7C}" type="presOf" srcId="{E2595A2C-AF8E-4C83-9ABF-462E6B173B18}" destId="{0A1838B4-6123-441C-9A31-694CFC23ECFD}" srcOrd="1" destOrd="0" presId="urn:microsoft.com/office/officeart/2005/8/layout/chart3"/>
    <dgm:cxn modelId="{EC85FAF1-C995-45FD-90FF-D326C3E779FF}" srcId="{A4EC8524-638E-4D1A-BE97-BB47510017D7}" destId="{DB3EC474-1CD1-46E1-9137-010B5466553C}" srcOrd="3" destOrd="0" parTransId="{324400B3-415F-4097-8362-7295806C60A9}" sibTransId="{5BFE9FBC-BA5F-41A8-9C3F-44D88FC622D1}"/>
    <dgm:cxn modelId="{A49FEAFF-FBAF-4ACD-9F11-040CC433C129}" type="presOf" srcId="{0E690BFA-D50C-480D-8BE8-E2B8AF807099}" destId="{42648D91-5960-40BD-844A-B12035758B22}" srcOrd="1" destOrd="0" presId="urn:microsoft.com/office/officeart/2005/8/layout/chart3"/>
    <dgm:cxn modelId="{88DAEE2F-477D-4ED9-9621-DEECA1AF0BB4}" type="presParOf" srcId="{AC6DECF6-40B9-4FB2-A215-2CB8CC50780C}" destId="{007C6E50-4694-49DF-BC3D-EC60C3D1D3D1}" srcOrd="0" destOrd="0" presId="urn:microsoft.com/office/officeart/2005/8/layout/chart3"/>
    <dgm:cxn modelId="{71E0160A-B57A-42C9-97E8-7284BC28484F}" type="presParOf" srcId="{AC6DECF6-40B9-4FB2-A215-2CB8CC50780C}" destId="{1E526092-2791-4D22-93DA-963F7B1BE937}" srcOrd="1" destOrd="0" presId="urn:microsoft.com/office/officeart/2005/8/layout/chart3"/>
    <dgm:cxn modelId="{2EA789B4-87EF-4A40-9AC8-88C218BDB4D7}" type="presParOf" srcId="{AC6DECF6-40B9-4FB2-A215-2CB8CC50780C}" destId="{6F7C1A9F-92D3-4DC5-8AF0-9F00F2610EDF}" srcOrd="2" destOrd="0" presId="urn:microsoft.com/office/officeart/2005/8/layout/chart3"/>
    <dgm:cxn modelId="{40DA4C74-2363-4187-8C8F-FFA79AB5B17C}" type="presParOf" srcId="{AC6DECF6-40B9-4FB2-A215-2CB8CC50780C}" destId="{658D1096-94D1-4010-9D42-A5CE89579D57}" srcOrd="3" destOrd="0" presId="urn:microsoft.com/office/officeart/2005/8/layout/chart3"/>
    <dgm:cxn modelId="{16D478ED-3942-4589-88D0-BA6DDE316E09}" type="presParOf" srcId="{AC6DECF6-40B9-4FB2-A215-2CB8CC50780C}" destId="{FD6A24D6-01F6-4458-BABB-9721108EDBD0}" srcOrd="4" destOrd="0" presId="urn:microsoft.com/office/officeart/2005/8/layout/chart3"/>
    <dgm:cxn modelId="{EE245F3A-0038-4654-9E83-5AB844D5AE9F}" type="presParOf" srcId="{AC6DECF6-40B9-4FB2-A215-2CB8CC50780C}" destId="{42648D91-5960-40BD-844A-B12035758B22}" srcOrd="5" destOrd="0" presId="urn:microsoft.com/office/officeart/2005/8/layout/chart3"/>
    <dgm:cxn modelId="{6AA3034B-7601-4DED-A71A-96BEF522E340}" type="presParOf" srcId="{AC6DECF6-40B9-4FB2-A215-2CB8CC50780C}" destId="{89D22D70-75B6-41F4-91F4-8A0A2F566DF4}" srcOrd="6" destOrd="0" presId="urn:microsoft.com/office/officeart/2005/8/layout/chart3"/>
    <dgm:cxn modelId="{C02F281F-6115-4F6A-8EB3-B662E2BED22B}" type="presParOf" srcId="{AC6DECF6-40B9-4FB2-A215-2CB8CC50780C}" destId="{37C60DE4-1EFE-4B47-AD5F-280501E42278}" srcOrd="7" destOrd="0" presId="urn:microsoft.com/office/officeart/2005/8/layout/chart3"/>
    <dgm:cxn modelId="{F019702E-F003-47E6-B8B4-C6C56F42757E}" type="presParOf" srcId="{AC6DECF6-40B9-4FB2-A215-2CB8CC50780C}" destId="{949D52D8-13AC-46BF-87BB-63357ADB1426}" srcOrd="8" destOrd="0" presId="urn:microsoft.com/office/officeart/2005/8/layout/chart3"/>
    <dgm:cxn modelId="{4D375B65-589F-4EEC-B89B-59496FFBE002}" type="presParOf" srcId="{AC6DECF6-40B9-4FB2-A215-2CB8CC50780C}" destId="{8496C2DF-82B2-47C9-A5E7-48092FC3DE1A}" srcOrd="9" destOrd="0" presId="urn:microsoft.com/office/officeart/2005/8/layout/chart3"/>
    <dgm:cxn modelId="{5AA18D8D-B5AC-4AFA-A38B-D1422838F8F3}" type="presParOf" srcId="{AC6DECF6-40B9-4FB2-A215-2CB8CC50780C}" destId="{09D7EE57-EA57-47EE-A3C1-22794014B663}" srcOrd="10" destOrd="0" presId="urn:microsoft.com/office/officeart/2005/8/layout/chart3"/>
    <dgm:cxn modelId="{ED6C035C-9077-4BEB-A63B-384B5EB4FFBD}" type="presParOf" srcId="{AC6DECF6-40B9-4FB2-A215-2CB8CC50780C}" destId="{0A1838B4-6123-441C-9A31-694CFC23ECFD}" srcOrd="11" destOrd="0" presId="urn:microsoft.com/office/officeart/2005/8/layout/chart3"/>
    <dgm:cxn modelId="{23C364AA-4812-4FA4-83A3-2FC55386D1C2}" type="presParOf" srcId="{AC6DECF6-40B9-4FB2-A215-2CB8CC50780C}" destId="{5A212FDA-C73F-4F66-A451-92C476E03329}" srcOrd="12" destOrd="0" presId="urn:microsoft.com/office/officeart/2005/8/layout/chart3"/>
    <dgm:cxn modelId="{5F44D61A-3672-48B1-BC36-1CF3B4D18CA5}" type="presParOf" srcId="{AC6DECF6-40B9-4FB2-A215-2CB8CC50780C}" destId="{C5B63027-1869-41EC-B7EE-7AD97B044D0A}" srcOrd="13"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C6E50-4694-49DF-BC3D-EC60C3D1D3D1}">
      <dsp:nvSpPr>
        <dsp:cNvPr id="0" name=""/>
        <dsp:cNvSpPr/>
      </dsp:nvSpPr>
      <dsp:spPr>
        <a:xfrm>
          <a:off x="5217716" y="2689"/>
          <a:ext cx="5352879" cy="5251274"/>
        </a:xfrm>
        <a:prstGeom prst="pie">
          <a:avLst>
            <a:gd name="adj1" fmla="val 16200000"/>
            <a:gd name="adj2" fmla="val 19285716"/>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Analytical Skills</a:t>
          </a:r>
        </a:p>
      </dsp:txBody>
      <dsp:txXfrm>
        <a:off x="7947047" y="502811"/>
        <a:ext cx="1465669" cy="906469"/>
      </dsp:txXfrm>
    </dsp:sp>
    <dsp:sp modelId="{6F7C1A9F-92D3-4DC5-8AF0-9F00F2610EDF}">
      <dsp:nvSpPr>
        <dsp:cNvPr id="0" name=""/>
        <dsp:cNvSpPr/>
      </dsp:nvSpPr>
      <dsp:spPr>
        <a:xfrm>
          <a:off x="5224534" y="12643"/>
          <a:ext cx="5352879" cy="5251274"/>
        </a:xfrm>
        <a:prstGeom prst="pie">
          <a:avLst>
            <a:gd name="adj1" fmla="val 19285716"/>
            <a:gd name="adj2" fmla="val 771428"/>
          </a:avLst>
        </a:prstGeom>
        <a:solidFill>
          <a:schemeClr val="accent5">
            <a:hueOff val="-3553854"/>
            <a:satOff val="2020"/>
            <a:lumOff val="-1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Punctuality</a:t>
          </a:r>
        </a:p>
      </dsp:txBody>
      <dsp:txXfrm>
        <a:off x="8888707" y="1888098"/>
        <a:ext cx="1554884" cy="968985"/>
      </dsp:txXfrm>
    </dsp:sp>
    <dsp:sp modelId="{FD6A24D6-01F6-4458-BABB-9721108EDBD0}">
      <dsp:nvSpPr>
        <dsp:cNvPr id="0" name=""/>
        <dsp:cNvSpPr/>
      </dsp:nvSpPr>
      <dsp:spPr>
        <a:xfrm>
          <a:off x="5224993" y="-27090"/>
          <a:ext cx="5352879" cy="5251274"/>
        </a:xfrm>
        <a:prstGeom prst="pie">
          <a:avLst>
            <a:gd name="adj1" fmla="val 771428"/>
            <a:gd name="adj2" fmla="val 3857143"/>
          </a:avLst>
        </a:prstGeom>
        <a:solidFill>
          <a:schemeClr val="accent5">
            <a:hueOff val="-7107707"/>
            <a:satOff val="4040"/>
            <a:lumOff val="-333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Perseverance</a:t>
          </a:r>
        </a:p>
      </dsp:txBody>
      <dsp:txXfrm>
        <a:off x="8666129" y="3098668"/>
        <a:ext cx="1401944" cy="1000242"/>
      </dsp:txXfrm>
    </dsp:sp>
    <dsp:sp modelId="{89D22D70-75B6-41F4-91F4-8A0A2F566DF4}">
      <dsp:nvSpPr>
        <dsp:cNvPr id="0" name=""/>
        <dsp:cNvSpPr/>
      </dsp:nvSpPr>
      <dsp:spPr>
        <a:xfrm>
          <a:off x="5224534" y="12643"/>
          <a:ext cx="5352879" cy="5251274"/>
        </a:xfrm>
        <a:prstGeom prst="pie">
          <a:avLst>
            <a:gd name="adj1" fmla="val 3857226"/>
            <a:gd name="adj2" fmla="val 6942858"/>
          </a:avLst>
        </a:prstGeom>
        <a:solidFill>
          <a:schemeClr val="accent5">
            <a:hueOff val="-10661560"/>
            <a:satOff val="6060"/>
            <a:lumOff val="-5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Dedication</a:t>
          </a:r>
        </a:p>
      </dsp:txBody>
      <dsp:txXfrm>
        <a:off x="7184070" y="4138644"/>
        <a:ext cx="1433806" cy="1000242"/>
      </dsp:txXfrm>
    </dsp:sp>
    <dsp:sp modelId="{949D52D8-13AC-46BF-87BB-63357ADB1426}">
      <dsp:nvSpPr>
        <dsp:cNvPr id="0" name=""/>
        <dsp:cNvSpPr/>
      </dsp:nvSpPr>
      <dsp:spPr>
        <a:xfrm>
          <a:off x="5224534" y="12643"/>
          <a:ext cx="5352879" cy="5251274"/>
        </a:xfrm>
        <a:prstGeom prst="pie">
          <a:avLst>
            <a:gd name="adj1" fmla="val 6942858"/>
            <a:gd name="adj2" fmla="val 10028574"/>
          </a:avLst>
        </a:prstGeom>
        <a:solidFill>
          <a:schemeClr val="accent5">
            <a:hueOff val="-14215414"/>
            <a:satOff val="8079"/>
            <a:lumOff val="-6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Time-Devotion</a:t>
          </a:r>
        </a:p>
      </dsp:txBody>
      <dsp:txXfrm>
        <a:off x="5734332" y="3138402"/>
        <a:ext cx="1401944" cy="1000242"/>
      </dsp:txXfrm>
    </dsp:sp>
    <dsp:sp modelId="{09D7EE57-EA57-47EE-A3C1-22794014B663}">
      <dsp:nvSpPr>
        <dsp:cNvPr id="0" name=""/>
        <dsp:cNvSpPr/>
      </dsp:nvSpPr>
      <dsp:spPr>
        <a:xfrm>
          <a:off x="5224534" y="12643"/>
          <a:ext cx="5352879" cy="5251274"/>
        </a:xfrm>
        <a:prstGeom prst="pie">
          <a:avLst>
            <a:gd name="adj1" fmla="val 10028574"/>
            <a:gd name="adj2" fmla="val 13114284"/>
          </a:avLst>
        </a:prstGeom>
        <a:solidFill>
          <a:schemeClr val="accent5">
            <a:hueOff val="-17769267"/>
            <a:satOff val="10099"/>
            <a:lumOff val="-833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Intelligence</a:t>
          </a:r>
        </a:p>
      </dsp:txBody>
      <dsp:txXfrm>
        <a:off x="5358356" y="1888098"/>
        <a:ext cx="1554884" cy="968985"/>
      </dsp:txXfrm>
    </dsp:sp>
    <dsp:sp modelId="{5A212FDA-C73F-4F66-A451-92C476E03329}">
      <dsp:nvSpPr>
        <dsp:cNvPr id="0" name=""/>
        <dsp:cNvSpPr/>
      </dsp:nvSpPr>
      <dsp:spPr>
        <a:xfrm>
          <a:off x="5210711" y="26517"/>
          <a:ext cx="5352879" cy="5251274"/>
        </a:xfrm>
        <a:prstGeom prst="pie">
          <a:avLst>
            <a:gd name="adj1" fmla="val 13114284"/>
            <a:gd name="adj2" fmla="val 16200000"/>
          </a:avLst>
        </a:prstGeom>
        <a:solidFill>
          <a:schemeClr val="accent5">
            <a:hueOff val="-21323121"/>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Sincerity</a:t>
          </a:r>
        </a:p>
      </dsp:txBody>
      <dsp:txXfrm>
        <a:off x="6370501" y="526638"/>
        <a:ext cx="1465669" cy="906469"/>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8635B-33C3-4690-BA16-E38A693CBE80}" type="datetimeFigureOut">
              <a:rPr lang="en-GB" smtClean="0"/>
              <a:t>24/09/2025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F44AE-985B-4C6A-AA83-B2B398EA0433}" type="slidenum">
              <a:rPr lang="en-GB" smtClean="0"/>
              <a:t>‹#›</a:t>
            </a:fld>
            <a:endParaRPr lang="en-GB"/>
          </a:p>
        </p:txBody>
      </p:sp>
    </p:spTree>
    <p:extLst>
      <p:ext uri="{BB962C8B-B14F-4D97-AF65-F5344CB8AC3E}">
        <p14:creationId xmlns:p14="http://schemas.microsoft.com/office/powerpoint/2010/main" val="4172864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415F2CF-F23D-4C30-822F-1AD0D12E5DC2}" type="slidenum">
              <a:rPr lang="en-US" smtClean="0"/>
              <a:pPr/>
              <a:t>6</a:t>
            </a:fld>
            <a:endParaRPr lang="en-US"/>
          </a:p>
        </p:txBody>
      </p:sp>
    </p:spTree>
    <p:extLst>
      <p:ext uri="{BB962C8B-B14F-4D97-AF65-F5344CB8AC3E}">
        <p14:creationId xmlns:p14="http://schemas.microsoft.com/office/powerpoint/2010/main" val="376156917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9/24/2025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9/24/2025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9/24/2025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9/24/2025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9/24/2025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9/24/2025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4626" y="1585872"/>
            <a:ext cx="8825658" cy="2677648"/>
          </a:xfrm>
        </p:spPr>
        <p:txBody>
          <a:bodyPr>
            <a:normAutofit/>
          </a:bodyPr>
          <a:lstStyle/>
          <a:p>
            <a:pPr algn="ctr"/>
            <a:r>
              <a:rPr lang="en-US" dirty="0"/>
              <a:t>Software Testing</a:t>
            </a:r>
            <a:endParaRPr lang="en-GB" dirty="0"/>
          </a:p>
        </p:txBody>
      </p:sp>
      <p:sp>
        <p:nvSpPr>
          <p:cNvPr id="3" name="Subtitle 2"/>
          <p:cNvSpPr>
            <a:spLocks noGrp="1"/>
          </p:cNvSpPr>
          <p:nvPr>
            <p:ph type="subTitle" idx="1"/>
          </p:nvPr>
        </p:nvSpPr>
        <p:spPr>
          <a:xfrm>
            <a:off x="1355455" y="4742839"/>
            <a:ext cx="9144000" cy="1619326"/>
          </a:xfrm>
        </p:spPr>
        <p:txBody>
          <a:bodyPr>
            <a:noAutofit/>
          </a:bodyPr>
          <a:lstStyle/>
          <a:p>
            <a:pPr algn="ctr"/>
            <a:r>
              <a:rPr lang="en-GB" sz="3600" dirty="0"/>
              <a:t>Ramsha Saeed</a:t>
            </a:r>
            <a:endParaRPr lang="en-US" sz="3600" dirty="0"/>
          </a:p>
          <a:p>
            <a:pPr algn="ctr"/>
            <a:endParaRPr lang="en-US" sz="3600" dirty="0"/>
          </a:p>
          <a:p>
            <a:pPr algn="ctr"/>
            <a:endParaRPr lang="en-US" sz="3600" dirty="0"/>
          </a:p>
          <a:p>
            <a:pPr algn="ctr"/>
            <a:endParaRPr lang="en-US" sz="3600" dirty="0"/>
          </a:p>
        </p:txBody>
      </p:sp>
    </p:spTree>
    <p:extLst>
      <p:ext uri="{BB962C8B-B14F-4D97-AF65-F5344CB8AC3E}">
        <p14:creationId xmlns:p14="http://schemas.microsoft.com/office/powerpoint/2010/main" val="2487122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1440" tIns="46038" rIns="91440" bIns="46038" rtlCol="0" anchor="ctr">
            <a:normAutofit/>
          </a:bodyPr>
          <a:lstStyle/>
          <a:p>
            <a:r>
              <a:rPr lang="en-US"/>
              <a:t>Description &amp; Objective</a:t>
            </a:r>
            <a:endParaRPr lang="en-US" dirty="0"/>
          </a:p>
        </p:txBody>
      </p:sp>
      <p:sp>
        <p:nvSpPr>
          <p:cNvPr id="19459" name="Rectangle 3"/>
          <p:cNvSpPr>
            <a:spLocks noGrp="1" noChangeArrowheads="1"/>
          </p:cNvSpPr>
          <p:nvPr>
            <p:ph idx="1"/>
          </p:nvPr>
        </p:nvSpPr>
        <p:spPr/>
        <p:txBody>
          <a:bodyPr vert="horz" lIns="91440" tIns="46038" rIns="91440" bIns="46038" rtlCol="0">
            <a:normAutofit fontScale="85000" lnSpcReduction="20000"/>
          </a:bodyPr>
          <a:lstStyle/>
          <a:p>
            <a:r>
              <a:rPr lang="en-US" sz="3200" dirty="0">
                <a:cs typeface="Times New Roman" pitchFamily="18" charset="0"/>
              </a:rPr>
              <a:t>Familiarize the students with the terms, software quality and software testing.</a:t>
            </a:r>
          </a:p>
          <a:p>
            <a:r>
              <a:rPr lang="en-US" sz="3200" dirty="0">
                <a:cs typeface="Times New Roman" pitchFamily="18" charset="0"/>
              </a:rPr>
              <a:t>Introduce Software Quality Assurance Process and its steps to students.</a:t>
            </a:r>
          </a:p>
          <a:p>
            <a:r>
              <a:rPr lang="en-US" sz="3200" dirty="0">
                <a:cs typeface="Times New Roman" pitchFamily="18" charset="0"/>
              </a:rPr>
              <a:t>Explain complete process of testing to students.</a:t>
            </a:r>
          </a:p>
          <a:p>
            <a:r>
              <a:rPr lang="en-US" sz="3200" dirty="0">
                <a:cs typeface="Times New Roman" pitchFamily="18" charset="0"/>
              </a:rPr>
              <a:t>Familiarize the students with common methods used for testing.</a:t>
            </a:r>
          </a:p>
          <a:p>
            <a:r>
              <a:rPr lang="en-US" sz="3200" dirty="0">
                <a:cs typeface="Times New Roman" pitchFamily="18" charset="0"/>
              </a:rPr>
              <a:t>Familiarize the students different methods used for test case selection.</a:t>
            </a:r>
          </a:p>
          <a:p>
            <a:r>
              <a:rPr lang="en-US" sz="3200" dirty="0">
                <a:cs typeface="Times New Roman" pitchFamily="18" charset="0"/>
              </a:rPr>
              <a:t>Familiarize students with software testing tools.</a:t>
            </a:r>
          </a:p>
          <a:p>
            <a:endParaRPr lang="en-US" dirty="0"/>
          </a:p>
        </p:txBody>
      </p:sp>
    </p:spTree>
    <p:extLst>
      <p:ext uri="{BB962C8B-B14F-4D97-AF65-F5344CB8AC3E}">
        <p14:creationId xmlns:p14="http://schemas.microsoft.com/office/powerpoint/2010/main" val="3690176832"/>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vert="horz" lIns="91440" tIns="46038" rIns="91440" bIns="46038" rtlCol="0" anchor="ctr">
            <a:normAutofit/>
          </a:bodyPr>
          <a:lstStyle/>
          <a:p>
            <a:r>
              <a:rPr lang="en-US"/>
              <a:t>Guidelines</a:t>
            </a:r>
            <a:endParaRPr lang="en-US" dirty="0"/>
          </a:p>
        </p:txBody>
      </p:sp>
      <p:sp>
        <p:nvSpPr>
          <p:cNvPr id="25603" name="Rectangle 3"/>
          <p:cNvSpPr>
            <a:spLocks noGrp="1" noChangeArrowheads="1"/>
          </p:cNvSpPr>
          <p:nvPr>
            <p:ph idx="1"/>
          </p:nvPr>
        </p:nvSpPr>
        <p:spPr/>
        <p:txBody>
          <a:bodyPr vert="horz" lIns="91440" tIns="46038" rIns="91440" bIns="46038" rtlCol="0">
            <a:noAutofit/>
          </a:bodyPr>
          <a:lstStyle/>
          <a:p>
            <a:r>
              <a:rPr lang="en-US" sz="2800" dirty="0"/>
              <a:t>The course outline is tentative</a:t>
            </a:r>
          </a:p>
          <a:p>
            <a:r>
              <a:rPr lang="en-US" sz="2800" dirty="0"/>
              <a:t>Evaluation will be based on all class discussions, handouts, recommended readings, slides etc.</a:t>
            </a:r>
          </a:p>
          <a:p>
            <a:r>
              <a:rPr lang="en-US" sz="2800" dirty="0"/>
              <a:t>Rote learning</a:t>
            </a:r>
          </a:p>
          <a:p>
            <a:r>
              <a:rPr lang="en-US" sz="2800" dirty="0"/>
              <a:t>Active participation</a:t>
            </a:r>
          </a:p>
          <a:p>
            <a:r>
              <a:rPr lang="en-US" sz="2800" dirty="0"/>
              <a:t>Announcements etc. will be made via Portal</a:t>
            </a:r>
          </a:p>
        </p:txBody>
      </p:sp>
      <p:pic>
        <p:nvPicPr>
          <p:cNvPr id="4" name="Picture 2" descr="C:\Program Files\Microsoft Office\MEDIA\CAGCAT10\j0195812.wmf"/>
          <p:cNvPicPr>
            <a:picLocks noChangeAspect="1" noChangeArrowheads="1"/>
          </p:cNvPicPr>
          <p:nvPr/>
        </p:nvPicPr>
        <p:blipFill>
          <a:blip r:embed="rId2" cstate="print"/>
          <a:srcRect/>
          <a:stretch>
            <a:fillRect/>
          </a:stretch>
        </p:blipFill>
        <p:spPr bwMode="auto">
          <a:xfrm>
            <a:off x="155448" y="4146804"/>
            <a:ext cx="914400" cy="940809"/>
          </a:xfrm>
          <a:prstGeom prst="rect">
            <a:avLst/>
          </a:prstGeom>
          <a:noFill/>
        </p:spPr>
      </p:pic>
      <p:pic>
        <p:nvPicPr>
          <p:cNvPr id="5" name="Picture 2"/>
          <p:cNvPicPr>
            <a:picLocks noChangeAspect="1" noChangeArrowheads="1"/>
          </p:cNvPicPr>
          <p:nvPr/>
        </p:nvPicPr>
        <p:blipFill>
          <a:blip r:embed="rId3" cstate="print"/>
          <a:srcRect/>
          <a:stretch>
            <a:fillRect/>
          </a:stretch>
        </p:blipFill>
        <p:spPr bwMode="auto">
          <a:xfrm>
            <a:off x="3986591" y="3465767"/>
            <a:ext cx="723985" cy="681037"/>
          </a:xfrm>
          <a:prstGeom prst="rect">
            <a:avLst/>
          </a:prstGeom>
          <a:noFill/>
          <a:ln w="9525">
            <a:noFill/>
            <a:miter lim="800000"/>
            <a:headEnd/>
            <a:tailEnd/>
          </a:ln>
          <a:effectLst/>
        </p:spPr>
      </p:pic>
    </p:spTree>
    <p:extLst>
      <p:ext uri="{BB962C8B-B14F-4D97-AF65-F5344CB8AC3E}">
        <p14:creationId xmlns:p14="http://schemas.microsoft.com/office/powerpoint/2010/main" val="2925260637"/>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20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20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fade">
                                      <p:cBhvr>
                                        <p:cTn id="17" dur="20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0-#ppt_h/2"/>
                                          </p:val>
                                        </p:tav>
                                        <p:tav tm="100000">
                                          <p:val>
                                            <p:strVal val="#ppt_y"/>
                                          </p:val>
                                        </p:tav>
                                      </p:tavLst>
                                    </p:anim>
                                  </p:childTnLst>
                                </p:cTn>
                              </p:par>
                              <p:par>
                                <p:cTn id="24" presetID="26" presetClass="emph" presetSubtype="0" fill="hold" nodeType="withEffect">
                                  <p:stCondLst>
                                    <p:cond delay="0"/>
                                  </p:stCondLst>
                                  <p:childTnLst>
                                    <p:animEffect transition="out" filter="fade">
                                      <p:cBhvr>
                                        <p:cTn id="25" dur="500" tmFilter="0, 0; .2, .5; .8, .5; 1, 0"/>
                                        <p:tgtEl>
                                          <p:spTgt spid="5"/>
                                        </p:tgtEl>
                                      </p:cBhvr>
                                    </p:animEffect>
                                    <p:animScale>
                                      <p:cBhvr>
                                        <p:cTn id="26" dur="250" autoRev="1" fill="hold"/>
                                        <p:tgtEl>
                                          <p:spTgt spid="5"/>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603">
                                            <p:txEl>
                                              <p:pRg st="3" end="3"/>
                                            </p:txEl>
                                          </p:spTgt>
                                        </p:tgtEl>
                                        <p:attrNameLst>
                                          <p:attrName>style.visibility</p:attrName>
                                        </p:attrNameLst>
                                      </p:cBhvr>
                                      <p:to>
                                        <p:strVal val="visible"/>
                                      </p:to>
                                    </p:set>
                                    <p:animEffect transition="in" filter="fade">
                                      <p:cBhvr>
                                        <p:cTn id="31" dur="2000"/>
                                        <p:tgtEl>
                                          <p:spTgt spid="25603">
                                            <p:txEl>
                                              <p:pRg st="3" end="3"/>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checkerboard(across)">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603">
                                            <p:txEl>
                                              <p:pRg st="4" end="4"/>
                                            </p:txEl>
                                          </p:spTgt>
                                        </p:tgtEl>
                                        <p:attrNameLst>
                                          <p:attrName>style.visibility</p:attrName>
                                        </p:attrNameLst>
                                      </p:cBhvr>
                                      <p:to>
                                        <p:strVal val="visible"/>
                                      </p:to>
                                    </p:set>
                                    <p:animEffect transition="in" filter="fade">
                                      <p:cBhvr>
                                        <p:cTn id="40" dur="20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Plagiarism</a:t>
            </a:r>
            <a:endParaRPr lang="en-GB" dirty="0"/>
          </a:p>
        </p:txBody>
      </p:sp>
      <p:sp>
        <p:nvSpPr>
          <p:cNvPr id="3" name="Subtitle 2"/>
          <p:cNvSpPr>
            <a:spLocks noGrp="1"/>
          </p:cNvSpPr>
          <p:nvPr>
            <p:ph idx="1"/>
          </p:nvPr>
        </p:nvSpPr>
        <p:spPr/>
        <p:txBody>
          <a:bodyPr>
            <a:normAutofit/>
          </a:bodyPr>
          <a:lstStyle/>
          <a:p>
            <a:r>
              <a:rPr lang="en-US" sz="2400"/>
              <a:t>Cheating is not only unethical; it is also against the University rules and will not be tolerated. Any form of cheating in programming assignments, homework problems, quizzes, and exams will result in strict action. Plagiarism detection tools will be used to determine who has cheated in programming assignments.</a:t>
            </a:r>
            <a:endParaRPr lang="en-GB" sz="2400"/>
          </a:p>
          <a:p>
            <a:r>
              <a:rPr lang="en-US" sz="2400" b="1"/>
              <a:t>All the parties involved will be awarded Zero in first instance. Repeat of the same offense will result in (F) grade.</a:t>
            </a:r>
          </a:p>
          <a:p>
            <a:r>
              <a:rPr lang="en-US" sz="2400" b="1"/>
              <a:t>USE PROPER REFERENCING IF ANY MATERIAL TAKEN FROM ANYWHERE</a:t>
            </a:r>
          </a:p>
          <a:p>
            <a:r>
              <a:rPr lang="en-US" sz="2400" b="1"/>
              <a:t>NO REFERENCE MEANS DECEPTION</a:t>
            </a:r>
            <a:endParaRPr lang="en-GB" sz="2400" dirty="0"/>
          </a:p>
        </p:txBody>
      </p:sp>
    </p:spTree>
    <p:extLst>
      <p:ext uri="{BB962C8B-B14F-4D97-AF65-F5344CB8AC3E}">
        <p14:creationId xmlns:p14="http://schemas.microsoft.com/office/powerpoint/2010/main" val="408154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Guidelines (Contd.)</a:t>
            </a:r>
            <a:endParaRPr lang="en-US" dirty="0"/>
          </a:p>
        </p:txBody>
      </p:sp>
      <p:sp>
        <p:nvSpPr>
          <p:cNvPr id="2" name="Content Placeholder 1"/>
          <p:cNvSpPr>
            <a:spLocks noGrp="1"/>
          </p:cNvSpPr>
          <p:nvPr>
            <p:ph idx="1"/>
          </p:nvPr>
        </p:nvSpPr>
        <p:spPr/>
        <p:txBody>
          <a:bodyPr>
            <a:normAutofit/>
          </a:bodyPr>
          <a:lstStyle/>
          <a:p>
            <a:r>
              <a:rPr lang="en-US" sz="2800"/>
              <a:t>Honor Code</a:t>
            </a:r>
          </a:p>
          <a:p>
            <a:pPr lvl="1"/>
            <a:r>
              <a:rPr lang="en-US" sz="2400"/>
              <a:t>Permitted Collaboration</a:t>
            </a:r>
          </a:p>
          <a:p>
            <a:pPr lvl="1"/>
            <a:r>
              <a:rPr lang="en-US" sz="2400"/>
              <a:t>Not Permitted Collaboration (i.e. Plagiarism)</a:t>
            </a:r>
          </a:p>
          <a:p>
            <a:pPr lvl="2"/>
            <a:r>
              <a:rPr lang="en-US" sz="2000"/>
              <a:t>Assignments</a:t>
            </a:r>
          </a:p>
          <a:p>
            <a:pPr lvl="3"/>
            <a:r>
              <a:rPr lang="en-US" sz="2000"/>
              <a:t>Copying solutions from others</a:t>
            </a:r>
          </a:p>
          <a:p>
            <a:pPr lvl="3"/>
            <a:r>
              <a:rPr lang="en-US" sz="2000"/>
              <a:t>Using work from past semesters</a:t>
            </a:r>
          </a:p>
          <a:p>
            <a:pPr lvl="3"/>
            <a:r>
              <a:rPr lang="en-US" sz="2000"/>
              <a:t>Studying other students’ solution</a:t>
            </a:r>
          </a:p>
          <a:p>
            <a:pPr lvl="2"/>
            <a:r>
              <a:rPr lang="en-US" sz="2000"/>
              <a:t>Quizzes and Exams</a:t>
            </a:r>
          </a:p>
          <a:p>
            <a:pPr lvl="3"/>
            <a:r>
              <a:rPr lang="en-US" sz="2000"/>
              <a:t>Looking at others’ exam</a:t>
            </a:r>
          </a:p>
          <a:p>
            <a:pPr lvl="3"/>
            <a:r>
              <a:rPr lang="en-US" sz="2000"/>
              <a:t>Not keeping your eyes on your exam</a:t>
            </a:r>
            <a:r>
              <a:rPr lang="en-US">
                <a:solidFill>
                  <a:schemeClr val="bg1"/>
                </a:solidFill>
              </a:rPr>
              <a:t>n quizzes 1</a:t>
            </a:r>
            <a:r>
              <a:rPr lang="en-US" baseline="30000">
                <a:solidFill>
                  <a:schemeClr val="bg1"/>
                </a:solidFill>
              </a:rPr>
              <a:t>st</a:t>
            </a:r>
            <a:r>
              <a:rPr lang="en-US">
                <a:solidFill>
                  <a:schemeClr val="bg1"/>
                </a:solidFill>
              </a:rPr>
              <a:t> offense will result in award of -1, 2</a:t>
            </a:r>
            <a:r>
              <a:rPr lang="en-US" baseline="30000">
                <a:solidFill>
                  <a:schemeClr val="bg1"/>
                </a:solidFill>
              </a:rPr>
              <a:t>nd</a:t>
            </a:r>
            <a:r>
              <a:rPr lang="en-US">
                <a:solidFill>
                  <a:schemeClr val="bg1"/>
                </a:solidFill>
              </a:rPr>
              <a:t> offense -2, 3</a:t>
            </a:r>
            <a:r>
              <a:rPr lang="en-US" baseline="30000">
                <a:solidFill>
                  <a:schemeClr val="bg1"/>
                </a:solidFill>
              </a:rPr>
              <a:t>rd</a:t>
            </a:r>
            <a:r>
              <a:rPr lang="en-US">
                <a:solidFill>
                  <a:schemeClr val="bg1"/>
                </a:solidFill>
              </a:rPr>
              <a:t> -5 and 4</a:t>
            </a:r>
            <a:r>
              <a:rPr lang="en-US" baseline="30000">
                <a:solidFill>
                  <a:schemeClr val="bg1"/>
                </a:solidFill>
              </a:rPr>
              <a:t>th</a:t>
            </a:r>
            <a:r>
              <a:rPr lang="en-US">
                <a:solidFill>
                  <a:schemeClr val="bg1"/>
                </a:solidFill>
              </a:rPr>
              <a:t> offense will result in cancellation of the quiz)</a:t>
            </a:r>
            <a:endParaRPr lang="en-US" dirty="0">
              <a:solidFill>
                <a:schemeClr val="bg1"/>
              </a:solidFill>
            </a:endParaRPr>
          </a:p>
        </p:txBody>
      </p:sp>
    </p:spTree>
    <p:extLst>
      <p:ext uri="{BB962C8B-B14F-4D97-AF65-F5344CB8AC3E}">
        <p14:creationId xmlns:p14="http://schemas.microsoft.com/office/powerpoint/2010/main" val="3629495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Guidelines (Contd.)</a:t>
            </a:r>
            <a:endParaRPr lang="en-US" dirty="0"/>
          </a:p>
        </p:txBody>
      </p:sp>
      <p:sp>
        <p:nvSpPr>
          <p:cNvPr id="3" name="Content Placeholder 2"/>
          <p:cNvSpPr>
            <a:spLocks noGrp="1"/>
          </p:cNvSpPr>
          <p:nvPr>
            <p:ph idx="1"/>
          </p:nvPr>
        </p:nvSpPr>
        <p:spPr/>
        <p:txBody>
          <a:bodyPr>
            <a:normAutofit/>
          </a:bodyPr>
          <a:lstStyle/>
          <a:p>
            <a:r>
              <a:rPr lang="en-US" sz="2800"/>
              <a:t>Honor Code (Contd.)</a:t>
            </a:r>
          </a:p>
          <a:p>
            <a:pPr lvl="1"/>
            <a:r>
              <a:rPr lang="en-US" sz="2400"/>
              <a:t>Not Permitted Collaboration (Contd.)</a:t>
            </a:r>
          </a:p>
          <a:p>
            <a:pPr lvl="2"/>
            <a:r>
              <a:rPr lang="en-US" sz="2000"/>
              <a:t>Penalty</a:t>
            </a:r>
          </a:p>
          <a:p>
            <a:pPr lvl="3"/>
            <a:r>
              <a:rPr lang="en-US" sz="2000"/>
              <a:t>Grade reduction</a:t>
            </a:r>
          </a:p>
          <a:p>
            <a:pPr lvl="3"/>
            <a:r>
              <a:rPr lang="en-US" sz="2000"/>
              <a:t>Referral to concerned authority in the University</a:t>
            </a:r>
          </a:p>
          <a:p>
            <a:pPr lvl="3"/>
            <a:r>
              <a:rPr lang="en-US" sz="2000"/>
              <a:t>F Grade</a:t>
            </a:r>
          </a:p>
          <a:p>
            <a:pPr lvl="3"/>
            <a:r>
              <a:rPr lang="en-US" sz="2000"/>
              <a:t>All of the above </a:t>
            </a:r>
            <a:r>
              <a:rPr lang="en-US" sz="2000">
                <a:sym typeface="Wingdings" pitchFamily="2" charset="2"/>
              </a:rPr>
              <a:t></a:t>
            </a:r>
            <a:endParaRPr lang="en-US" sz="2000"/>
          </a:p>
          <a:p>
            <a:pPr lvl="1"/>
            <a:r>
              <a:rPr lang="en-US" sz="2400"/>
              <a:t>Other Offenses</a:t>
            </a:r>
          </a:p>
          <a:p>
            <a:pPr lvl="2"/>
            <a:r>
              <a:rPr lang="en-US" sz="2000"/>
              <a:t>Penalty</a:t>
            </a:r>
          </a:p>
          <a:p>
            <a:pPr lvl="3"/>
            <a:r>
              <a:rPr lang="en-US" sz="2000"/>
              <a:t>Same as above</a:t>
            </a:r>
          </a:p>
          <a:p>
            <a:endParaRPr lang="en-US" dirty="0"/>
          </a:p>
        </p:txBody>
      </p:sp>
      <p:sp>
        <p:nvSpPr>
          <p:cNvPr id="4" name="TextBox 3"/>
          <p:cNvSpPr txBox="1"/>
          <p:nvPr/>
        </p:nvSpPr>
        <p:spPr>
          <a:xfrm>
            <a:off x="2819400" y="5833646"/>
            <a:ext cx="7620000" cy="707886"/>
          </a:xfrm>
          <a:prstGeom prst="rect">
            <a:avLst/>
          </a:prstGeom>
          <a:noFill/>
        </p:spPr>
        <p:txBody>
          <a:bodyPr wrap="square" rtlCol="0">
            <a:spAutoFit/>
          </a:bodyPr>
          <a:lstStyle/>
          <a:p>
            <a:r>
              <a:rPr lang="en-US" sz="2000" dirty="0"/>
              <a:t>An honor code document with details will be placed on Portal if and when required</a:t>
            </a:r>
          </a:p>
        </p:txBody>
      </p:sp>
    </p:spTree>
    <p:extLst>
      <p:ext uri="{BB962C8B-B14F-4D97-AF65-F5344CB8AC3E}">
        <p14:creationId xmlns:p14="http://schemas.microsoft.com/office/powerpoint/2010/main" val="215536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Course Work</a:t>
            </a:r>
            <a:endParaRPr lang="en-GB" dirty="0"/>
          </a:p>
        </p:txBody>
      </p:sp>
      <p:sp>
        <p:nvSpPr>
          <p:cNvPr id="3" name="Content Placeholder 2"/>
          <p:cNvSpPr>
            <a:spLocks noGrp="1"/>
          </p:cNvSpPr>
          <p:nvPr>
            <p:ph idx="1"/>
          </p:nvPr>
        </p:nvSpPr>
        <p:spPr>
          <a:xfrm>
            <a:off x="1069848" y="2093976"/>
            <a:ext cx="10058400" cy="4050792"/>
          </a:xfrm>
        </p:spPr>
        <p:txBody>
          <a:bodyPr>
            <a:normAutofit fontScale="92500"/>
          </a:bodyPr>
          <a:lstStyle/>
          <a:p>
            <a:r>
              <a:rPr lang="en-GB" sz="2800" dirty="0"/>
              <a:t>Quiz x 4			</a:t>
            </a:r>
            <a:r>
              <a:rPr lang="en-US" sz="2800" dirty="0"/>
              <a:t>(Announced + Unannounced) 	– 15%</a:t>
            </a:r>
          </a:p>
          <a:p>
            <a:r>
              <a:rPr lang="en-GB" sz="2800" dirty="0"/>
              <a:t>Assignment x 4 		(VIVA/QUIZ) 			</a:t>
            </a:r>
            <a:r>
              <a:rPr lang="en-US" sz="2800" dirty="0"/>
              <a:t>– 10%</a:t>
            </a:r>
            <a:endParaRPr lang="en-GB" sz="2800" dirty="0"/>
          </a:p>
          <a:p>
            <a:r>
              <a:rPr lang="en-GB" sz="2800" dirty="0"/>
              <a:t>Project Deliverable 	(VIVA/Presentation)		</a:t>
            </a:r>
            <a:r>
              <a:rPr lang="en-US" sz="2800" dirty="0"/>
              <a:t>– 10%</a:t>
            </a:r>
            <a:endParaRPr lang="en-GB" sz="2800" dirty="0"/>
          </a:p>
          <a:p>
            <a:r>
              <a:rPr lang="en-US" sz="2800" dirty="0"/>
              <a:t>Mid Term Exam 							– 20%</a:t>
            </a:r>
          </a:p>
          <a:p>
            <a:r>
              <a:rPr lang="en-US" sz="2800" dirty="0"/>
              <a:t>Final Exam 							– 40%</a:t>
            </a:r>
          </a:p>
          <a:p>
            <a:r>
              <a:rPr lang="en-GB" sz="2800" dirty="0"/>
              <a:t>Class Participation* 		</a:t>
            </a:r>
            <a:r>
              <a:rPr lang="en-US" sz="2800" dirty="0"/>
              <a:t> 				– 05%</a:t>
            </a:r>
          </a:p>
          <a:p>
            <a:pPr marL="0" indent="0">
              <a:buNone/>
            </a:pPr>
            <a:r>
              <a:rPr lang="en-GB" sz="2800" dirty="0"/>
              <a:t>ATTENDANCE+PUNCTUALITY+WRITTEN EXCERCISES+QA</a:t>
            </a:r>
          </a:p>
          <a:p>
            <a:pPr marL="0" indent="0">
              <a:buNone/>
            </a:pPr>
            <a:r>
              <a:rPr lang="en-GB" sz="2800" dirty="0"/>
              <a:t>DON’T ASSUME ,THERE WILL BE BEST OFF</a:t>
            </a:r>
          </a:p>
        </p:txBody>
      </p:sp>
    </p:spTree>
    <p:extLst>
      <p:ext uri="{BB962C8B-B14F-4D97-AF65-F5344CB8AC3E}">
        <p14:creationId xmlns:p14="http://schemas.microsoft.com/office/powerpoint/2010/main" val="3977093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t>
            </a:r>
            <a:r>
              <a:rPr lang="en-GB" dirty="0" err="1"/>
              <a:t>iS</a:t>
            </a:r>
            <a:r>
              <a:rPr lang="en-GB" dirty="0"/>
              <a:t> EXPECTED OF YOU</a:t>
            </a:r>
          </a:p>
        </p:txBody>
      </p:sp>
      <p:sp>
        <p:nvSpPr>
          <p:cNvPr id="3" name="Content Placeholder 2"/>
          <p:cNvSpPr>
            <a:spLocks noGrp="1"/>
          </p:cNvSpPr>
          <p:nvPr>
            <p:ph idx="1"/>
          </p:nvPr>
        </p:nvSpPr>
        <p:spPr>
          <a:xfrm>
            <a:off x="354231" y="1815680"/>
            <a:ext cx="6616412" cy="4078224"/>
          </a:xfrm>
        </p:spPr>
        <p:txBody>
          <a:bodyPr>
            <a:normAutofit lnSpcReduction="10000"/>
          </a:bodyPr>
          <a:lstStyle/>
          <a:p>
            <a:pPr marL="0" indent="0">
              <a:buNone/>
            </a:pPr>
            <a:endParaRPr lang="en-GB" sz="3600" dirty="0"/>
          </a:p>
          <a:p>
            <a:r>
              <a:rPr lang="en-GB" sz="2800" u="sng" dirty="0">
                <a:solidFill>
                  <a:srgbClr val="FF0000"/>
                </a:solidFill>
              </a:rPr>
              <a:t>ATTENDANCE WILL BE TAKEN AT START OF CLASS. NO REPEAT-CALLS</a:t>
            </a:r>
          </a:p>
          <a:p>
            <a:r>
              <a:rPr lang="en-GB" sz="2800" u="sng" dirty="0">
                <a:solidFill>
                  <a:srgbClr val="FF0000"/>
                </a:solidFill>
              </a:rPr>
              <a:t>LATE PENALTY FOR SUBMISSIONS IS 25%/day</a:t>
            </a:r>
          </a:p>
          <a:p>
            <a:r>
              <a:rPr lang="en-GB" sz="2800" u="sng" dirty="0">
                <a:solidFill>
                  <a:srgbClr val="FF0000"/>
                </a:solidFill>
              </a:rPr>
              <a:t>CELL PHONES &amp; ALL OTHER DISTRACTIONS ARE HIGHLY DISCOURAGED AND MAY LEAD TO PENALTIES</a:t>
            </a:r>
          </a:p>
          <a:p>
            <a:endParaRPr lang="en-GB" dirty="0"/>
          </a:p>
        </p:txBody>
      </p:sp>
      <p:graphicFrame>
        <p:nvGraphicFramePr>
          <p:cNvPr id="7" name="Diagram 6"/>
          <p:cNvGraphicFramePr/>
          <p:nvPr/>
        </p:nvGraphicFramePr>
        <p:xfrm>
          <a:off x="1614137" y="1497495"/>
          <a:ext cx="10315448" cy="6072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0830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vert="horz" lIns="91440" tIns="46038" rIns="91440" bIns="46038" rtlCol="0" anchor="ctr">
            <a:normAutofit/>
          </a:bodyPr>
          <a:lstStyle/>
          <a:p>
            <a:r>
              <a:rPr lang="en-US" dirty="0"/>
              <a:t>Text Book</a:t>
            </a:r>
          </a:p>
        </p:txBody>
      </p:sp>
      <p:sp>
        <p:nvSpPr>
          <p:cNvPr id="21507" name="Rectangle 3"/>
          <p:cNvSpPr>
            <a:spLocks noGrp="1" noChangeArrowheads="1"/>
          </p:cNvSpPr>
          <p:nvPr>
            <p:ph idx="1"/>
          </p:nvPr>
        </p:nvSpPr>
        <p:spPr>
          <a:xfrm>
            <a:off x="1069848" y="2093976"/>
            <a:ext cx="10058400" cy="4050792"/>
          </a:xfrm>
        </p:spPr>
        <p:txBody>
          <a:bodyPr vert="horz" lIns="91440" tIns="46038" rIns="91440" bIns="46038" rtlCol="0">
            <a:normAutofit/>
          </a:bodyPr>
          <a:lstStyle/>
          <a:p>
            <a:r>
              <a:rPr lang="en-US" sz="2800" dirty="0"/>
              <a:t>Softcopy of selected chapters from the books and handouts will be updated on portal :</a:t>
            </a:r>
          </a:p>
          <a:p>
            <a:pPr lvl="1"/>
            <a:r>
              <a:rPr lang="en-US" sz="2600" dirty="0"/>
              <a:t>Code Complete by Steve McConnel (2nd Edition)</a:t>
            </a:r>
          </a:p>
          <a:p>
            <a:pPr lvl="1"/>
            <a:r>
              <a:rPr lang="en-US" sz="2600" dirty="0"/>
              <a:t>A Practitioners Guide to Software Test Design by Lee Copeland</a:t>
            </a:r>
          </a:p>
          <a:p>
            <a:pPr lvl="1"/>
            <a:r>
              <a:rPr lang="en-US" sz="2600" dirty="0"/>
              <a:t>Software Testing: A </a:t>
            </a:r>
            <a:r>
              <a:rPr lang="en-US" sz="2600" dirty="0" err="1"/>
              <a:t>Craftsmans</a:t>
            </a:r>
            <a:r>
              <a:rPr lang="en-US" sz="2600" dirty="0"/>
              <a:t> Approach by Paul C. Jorgensen</a:t>
            </a:r>
          </a:p>
          <a:p>
            <a:pPr lvl="1"/>
            <a:r>
              <a:rPr lang="en-US" sz="2600" dirty="0"/>
              <a:t>Software Testing Tools by Dr. K.V.K.K Prasad</a:t>
            </a:r>
          </a:p>
          <a:p>
            <a:pPr lvl="1"/>
            <a:r>
              <a:rPr lang="en-US" sz="2600" dirty="0"/>
              <a:t>Handouts</a:t>
            </a:r>
            <a:endParaRPr lang="en-US" sz="2200" dirty="0"/>
          </a:p>
        </p:txBody>
      </p:sp>
    </p:spTree>
    <p:extLst>
      <p:ext uri="{BB962C8B-B14F-4D97-AF65-F5344CB8AC3E}">
        <p14:creationId xmlns:p14="http://schemas.microsoft.com/office/powerpoint/2010/main" val="3588196654"/>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vert="horz" lIns="91440" tIns="46038" rIns="91440" bIns="46038" rtlCol="0" anchor="ctr">
            <a:normAutofit/>
          </a:bodyPr>
          <a:lstStyle/>
          <a:p>
            <a:r>
              <a:rPr lang="en-US"/>
              <a:t>Course Outline</a:t>
            </a:r>
            <a:endParaRPr lang="en-US" dirty="0"/>
          </a:p>
        </p:txBody>
      </p:sp>
      <p:sp>
        <p:nvSpPr>
          <p:cNvPr id="27651" name="Rectangle 3"/>
          <p:cNvSpPr>
            <a:spLocks noGrp="1" noChangeArrowheads="1"/>
          </p:cNvSpPr>
          <p:nvPr>
            <p:ph idx="1"/>
          </p:nvPr>
        </p:nvSpPr>
        <p:spPr/>
        <p:txBody>
          <a:bodyPr vert="horz" lIns="91440" tIns="46038" rIns="91440" bIns="46038" rtlCol="0">
            <a:normAutofit/>
          </a:bodyPr>
          <a:lstStyle/>
          <a:p>
            <a:pPr>
              <a:lnSpc>
                <a:spcPct val="80000"/>
              </a:lnSpc>
            </a:pPr>
            <a:r>
              <a:rPr lang="en-US" b="1" dirty="0"/>
              <a:t>Software Quality Assurance</a:t>
            </a:r>
          </a:p>
          <a:p>
            <a:pPr>
              <a:lnSpc>
                <a:spcPct val="80000"/>
              </a:lnSpc>
            </a:pPr>
            <a:r>
              <a:rPr lang="en-US" b="1" dirty="0"/>
              <a:t>Types of Testing</a:t>
            </a:r>
          </a:p>
          <a:p>
            <a:pPr>
              <a:lnSpc>
                <a:spcPct val="80000"/>
              </a:lnSpc>
            </a:pPr>
            <a:r>
              <a:rPr lang="en-US" b="1" dirty="0"/>
              <a:t>Blackbox Testing Techniques</a:t>
            </a:r>
          </a:p>
          <a:p>
            <a:pPr>
              <a:lnSpc>
                <a:spcPct val="80000"/>
              </a:lnSpc>
            </a:pPr>
            <a:r>
              <a:rPr lang="en-US" b="1" dirty="0"/>
              <a:t>Whitebox Testing Techniques</a:t>
            </a:r>
          </a:p>
          <a:p>
            <a:pPr>
              <a:lnSpc>
                <a:spcPct val="80000"/>
              </a:lnSpc>
            </a:pPr>
            <a:r>
              <a:rPr lang="en-US" b="1" dirty="0"/>
              <a:t>Integration Testing</a:t>
            </a:r>
          </a:p>
        </p:txBody>
      </p:sp>
    </p:spTree>
    <p:extLst>
      <p:ext uri="{BB962C8B-B14F-4D97-AF65-F5344CB8AC3E}">
        <p14:creationId xmlns:p14="http://schemas.microsoft.com/office/powerpoint/2010/main" val="2622446473"/>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Questions????</a:t>
            </a:r>
            <a:endParaRPr lang="en-GB" dirty="0"/>
          </a:p>
        </p:txBody>
      </p:sp>
      <p:sp>
        <p:nvSpPr>
          <p:cNvPr id="2" name="Content Placeholder 1"/>
          <p:cNvSpPr>
            <a:spLocks noGrp="1"/>
          </p:cNvSpPr>
          <p:nvPr>
            <p:ph idx="1"/>
          </p:nvPr>
        </p:nvSpPr>
        <p:spPr/>
        <p:txBody>
          <a:bodyPr>
            <a:normAutofit/>
          </a:bodyPr>
          <a:lstStyle/>
          <a:p>
            <a:pPr marL="0" indent="0" algn="ctr">
              <a:buNone/>
            </a:pPr>
            <a:r>
              <a:rPr lang="en-US" sz="4000" b="1" dirty="0"/>
              <a:t>Welcome to the course! Lets start…</a:t>
            </a:r>
          </a:p>
        </p:txBody>
      </p:sp>
    </p:spTree>
    <p:extLst>
      <p:ext uri="{BB962C8B-B14F-4D97-AF65-F5344CB8AC3E}">
        <p14:creationId xmlns:p14="http://schemas.microsoft.com/office/powerpoint/2010/main" val="4014696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212</TotalTime>
  <Words>562</Words>
  <Application>Microsoft Office PowerPoint</Application>
  <PresentationFormat>Widescreen</PresentationFormat>
  <Paragraphs>81</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Rockwell</vt:lpstr>
      <vt:lpstr>Rockwell Condensed</vt:lpstr>
      <vt:lpstr>Wingdings</vt:lpstr>
      <vt:lpstr>Wood Type</vt:lpstr>
      <vt:lpstr>Software Testing</vt:lpstr>
      <vt:lpstr>Description &amp; Objective</vt:lpstr>
      <vt:lpstr>Guidelines</vt:lpstr>
      <vt:lpstr>Plagiarism</vt:lpstr>
      <vt:lpstr>Guidelines (Contd.)</vt:lpstr>
      <vt:lpstr>Guidelines (Contd.)</vt:lpstr>
      <vt:lpstr>Course Work</vt:lpstr>
      <vt:lpstr>What iS EXPECTED OF YOU</vt:lpstr>
      <vt:lpstr>Text Book</vt:lpstr>
      <vt:lpstr>Course Outline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haroonaw</dc:creator>
  <cp:lastModifiedBy>Ramsha Saeed</cp:lastModifiedBy>
  <cp:revision>47</cp:revision>
  <dcterms:created xsi:type="dcterms:W3CDTF">2017-03-05T08:04:53Z</dcterms:created>
  <dcterms:modified xsi:type="dcterms:W3CDTF">2025-09-24T09:27:06Z</dcterms:modified>
</cp:coreProperties>
</file>